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3000" b="1" dirty="0">
                <a:solidFill>
                  <a:srgbClr val="1E2761"/>
                </a:solidFill>
                <a:latin typeface="Calibri"/>
              </a:rPr>
              <a:t>Model parameters (1 of 4): geometry and mass</a:t>
            </a:r>
          </a:p>
        </p:txBody>
      </p:sp>
      <p:graphicFrame>
        <p:nvGraphicFramePr>
          <p:cNvPr id="3" name="Parameter table"/>
          <p:cNvGraphicFramePr>
            <a:graphicFrameLocks noGrp="1"/>
          </p:cNvGraphicFramePr>
          <p:nvPr/>
        </p:nvGraphicFramePr>
        <p:xfrm>
          <a:off x="548640" y="1188720"/>
          <a:ext cx="11064240" cy="4663440"/>
        </p:xfrm>
        <a:graphic>
          <a:graphicData uri="http://schemas.openxmlformats.org/drawingml/2006/table">
            <a:tbl>
              <a:tblPr firstRow="1" bandRow="1"/>
              <a:tblGrid>
                <a:gridCol w="5486400"/>
                <a:gridCol w="310896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m1 - Feed mass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kg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r_feed - Feed body radius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h_feed - Feed body length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z_feed - Feed centre height above vertex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1.01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r_ring - Feed strut ring radius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r_dish - Dish rim radius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f_dish - Dish focal length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thick_dish - Dish shell thickness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0.0127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rho_dish - Dish effective density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1050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kg/m^3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z_rim - Dish rim height above vertex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0.275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m_hub - Hub mass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kg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r_hub - Hub radius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h_hub - Hub depth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z_hub - Hub centre height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-0.10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m_sh - Derived shell mass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about 45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kg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m2 - Derived dish plus hub mass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about 90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kg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dirty="0">
                <a:solidFill>
                  <a:srgbClr val="4A5568"/>
                </a:solidFill>
                <a:latin typeface="Calibri"/>
              </a:rPr>
              <a:t>Source: Parameters section of feed_jitter_controls.mlx. Derived values are calculated from the listed inputs; placeholders need real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3000" b="1" dirty="0">
                <a:solidFill>
                  <a:srgbClr val="1E2761"/>
                </a:solidFill>
                <a:latin typeface="Calibri"/>
              </a:rPr>
              <a:t>Model parameters (2 of 4): struts and joints</a:t>
            </a:r>
          </a:p>
        </p:txBody>
      </p:sp>
      <p:graphicFrame>
        <p:nvGraphicFramePr>
          <p:cNvPr id="3" name="Parameter table"/>
          <p:cNvGraphicFramePr>
            <a:graphicFrameLocks noGrp="1"/>
          </p:cNvGraphicFramePr>
          <p:nvPr/>
        </p:nvGraphicFramePr>
        <p:xfrm>
          <a:off x="548640" y="1188720"/>
          <a:ext cx="11064240" cy="3566160"/>
        </p:xfrm>
        <a:graphic>
          <a:graphicData uri="http://schemas.openxmlformats.org/drawingml/2006/table">
            <a:tbl>
              <a:tblPr firstRow="1" bandRow="1"/>
              <a:tblGrid>
                <a:gridCol w="5486400"/>
                <a:gridCol w="310896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n_truss - Struts number of struts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N_el - Struts beam elements per strut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m_truss - Struts mass of one strut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kg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d_o - Struts tube outer diameter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t_wall - Struts tube wall thickness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nu_poisson - Struts poisson ratio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0.33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E_ref - Struts young's modulus (aluminium)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GPa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L_truss - Struts strut length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1.16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k_nom - Struts reference axial stiffness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1.8 x 10^7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N/m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k_joint_ax - Joints axial stiffness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5 x 10^7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N/m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k_joint_lat - Joints lateral stiffness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2 x 10^7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N/m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k_joint_rot - Joints rotational stiffness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1 x 10^4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N m/rad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dirty="0">
                <a:solidFill>
                  <a:srgbClr val="4A5568"/>
                </a:solidFill>
                <a:latin typeface="Calibri"/>
              </a:rPr>
              <a:t>Source: Parameters section of feed_jitter_controls.mlx. Derived values are calculated from the listed inputs; placeholders need real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3000" b="1" dirty="0">
                <a:solidFill>
                  <a:srgbClr val="1E2761"/>
                </a:solidFill>
                <a:latin typeface="Calibri"/>
              </a:rPr>
              <a:t>Model parameters (3 of 4): base, damping and wind</a:t>
            </a:r>
          </a:p>
        </p:txBody>
      </p:sp>
      <p:graphicFrame>
        <p:nvGraphicFramePr>
          <p:cNvPr id="3" name="Parameter table"/>
          <p:cNvGraphicFramePr>
            <a:graphicFrameLocks noGrp="1"/>
          </p:cNvGraphicFramePr>
          <p:nvPr/>
        </p:nvGraphicFramePr>
        <p:xfrm>
          <a:off x="548640" y="1188720"/>
          <a:ext cx="11064240" cy="4389120"/>
        </p:xfrm>
        <a:graphic>
          <a:graphicData uri="http://schemas.openxmlformats.org/drawingml/2006/table">
            <a:tbl>
              <a:tblPr firstRow="1" bandRow="1"/>
              <a:tblGrid>
                <a:gridCol w="5486400"/>
                <a:gridCol w="310896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k_base - Base translational stiffness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9.75 x 10^8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N/m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k_base_rot - Base rotational stiffness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8.1 x 10^8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N m/rad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e_base - Base pivot distance behind vertex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zeta - Damping modal damping ratio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rho_air - Wind air density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1.225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kg/m^3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U_mean - Wind mean wind speed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m/s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I_u - Wind turbulence intensity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L_u - Wind integral length scale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Cd_feed - Wind feed drag coefficient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A_feed - Wind feed frontal area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m^2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C_N - Wind dish normal-force coefficient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C_S - Wind dish side-force coefficient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C_M - Wind dish aero moment coefficient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A_dish - Wind dish aperture area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3.14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m^2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z_cp - Wind centre of pressure height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0.137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dirty="0">
                <a:solidFill>
                  <a:srgbClr val="4A5568"/>
                </a:solidFill>
                <a:latin typeface="Calibri"/>
              </a:rPr>
              <a:t>Source: Parameters section of feed_jitter_controls.mlx. Derived values are calculated from the listed inputs; placeholders need real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3000" b="1" dirty="0">
                <a:solidFill>
                  <a:srgbClr val="1E2761"/>
                </a:solidFill>
                <a:latin typeface="Calibri"/>
              </a:rPr>
              <a:t>Model parameters (4 of 4): optics and analysis settings</a:t>
            </a:r>
          </a:p>
        </p:txBody>
      </p:sp>
      <p:graphicFrame>
        <p:nvGraphicFramePr>
          <p:cNvPr id="3" name="Parameter table"/>
          <p:cNvGraphicFramePr>
            <a:graphicFrameLocks noGrp="1"/>
          </p:cNvGraphicFramePr>
          <p:nvPr/>
        </p:nvGraphicFramePr>
        <p:xfrm>
          <a:off x="548640" y="1188720"/>
          <a:ext cx="11064240" cy="3291840"/>
        </p:xfrm>
        <a:graphic>
          <a:graphicData uri="http://schemas.openxmlformats.org/drawingml/2006/table">
            <a:tbl>
              <a:tblPr firstRow="1" bandRow="1"/>
              <a:tblGrid>
                <a:gridCol w="5486400"/>
                <a:gridCol w="310896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f / D - Optics focal ratio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0.455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k_B - Optics beam deviation constant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BDF - Optics beam deviation factor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c_tilt - Optics feed-tilt effect on LOS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rf_Hz - Optics operating frequency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225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GHz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HPBW - Optics half-power beamwidth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mrad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HPBW / 10 - Optics pointing budget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urad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T_expo - Analysis exposure time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elev_deg - Analysis elevation angles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30, 45, 60, 90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deg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k_vals - Analysis strut stiffness sweep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10^6 to 10^9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N/m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EEF2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/>
                        </a:rPr>
                        <a:t>f_band - Analysis frequency band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/>
                        </a:rPr>
                        <a:t>0.1 to 1000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/>
                        </a:rPr>
                        <a:t>Hz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C9D3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dirty="0">
                <a:solidFill>
                  <a:srgbClr val="4A5568"/>
                </a:solidFill>
                <a:latin typeface="Calibri"/>
              </a:rPr>
              <a:t>Source: Parameters section of feed_jitter_controls.mlx. Derived values are calculated from the listed inputs; placeholders need real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meters">
  <a:themeElements>
    <a:clrScheme name="Parameters">
      <a:dk1>
        <a:srgbClr val="1A1A2E"/>
      </a:dk1>
      <a:lt1>
        <a:srgbClr val="FFFFFF"/>
      </a:lt1>
      <a:dk2>
        <a:srgbClr val="1E2761"/>
      </a:dk2>
      <a:lt2>
        <a:srgbClr val="EEF2F9"/>
      </a:lt2>
      <a:accent1>
        <a:srgbClr val="1E2761"/>
      </a:accent1>
      <a:accent2>
        <a:srgbClr val="2F6DB5"/>
      </a:accent2>
      <a:accent3>
        <a:srgbClr val="0F6E56"/>
      </a:accent3>
      <a:accent4>
        <a:srgbClr val="BA7517"/>
      </a:accent4>
      <a:accent5>
        <a:srgbClr val="993C1D"/>
      </a:accent5>
      <a:accent6>
        <a:srgbClr val="5F5E5A"/>
      </a:accent6>
      <a:hlink>
        <a:srgbClr val="2F6DB5"/>
      </a:hlink>
      <a:folHlink>
        <a:srgbClr val="534AB7"/>
      </a:folHlink>
    </a:clrScheme>
    <a:fontScheme name="Parameter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rameter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